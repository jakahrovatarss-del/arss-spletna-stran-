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ans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8691" y="332406"/>
            <a:ext cx="6379887" cy="1404481"/>
          </a:xfrm>
          <a:custGeom>
            <a:avLst/>
            <a:gdLst/>
            <a:ahLst/>
            <a:cxnLst/>
            <a:rect r="r" b="b" t="t" l="l"/>
            <a:pathLst>
              <a:path h="1404481" w="6379887">
                <a:moveTo>
                  <a:pt x="0" y="0"/>
                </a:moveTo>
                <a:lnTo>
                  <a:pt x="6379887" y="0"/>
                </a:lnTo>
                <a:lnTo>
                  <a:pt x="6379887" y="1404481"/>
                </a:lnTo>
                <a:lnTo>
                  <a:pt x="0" y="140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0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723" y="4254006"/>
            <a:ext cx="11923823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1999" spc="-109" strike="noStrike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et me explain our Mission, Vision and Values related to this concept:</a:t>
            </a:r>
            <a:r>
              <a:rPr lang="en-US" b="true" sz="1999" spc="-109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1999" spc="-109" strike="noStrike" u="none">
                <a:solidFill>
                  <a:srgbClr val="1800AD"/>
                </a:solidFill>
                <a:latin typeface="DM Sans Bold"/>
                <a:ea typeface="DM Sans Bold"/>
                <a:cs typeface="DM Sans Bold"/>
                <a:sym typeface="DM Sans Bold"/>
              </a:rPr>
              <a:t>Our Companv - Maddalena S.p.A.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723" y="4820409"/>
            <a:ext cx="11923823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Water is on</a:t>
            </a: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of Earth's most precious resources, essential for life and our daily activities. From drinking and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cooking to washing and gardening, we rely on water in countless ways. However, water is a finite resource,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and with climate change and population growth, it's becoming increasingly important to use it wisely.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Every drop ofwater we save helps ensure there's enough for everyone, now and in the future. Simple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actions like fixing leaks, using water~efficient appliances, and being mindful ofour water usage can make a</a:t>
            </a:r>
          </a:p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big difference. Remember, every drop counts!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856749" y="-1438243"/>
            <a:ext cx="9502515" cy="12957557"/>
            <a:chOff x="0" y="0"/>
            <a:chExt cx="7543857" cy="102867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85" y="-127"/>
              <a:ext cx="754404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7544042">
                  <a:moveTo>
                    <a:pt x="7544042" y="10251440"/>
                  </a:moveTo>
                  <a:cubicBezTo>
                    <a:pt x="7544042" y="10284587"/>
                    <a:pt x="7534687" y="10286873"/>
                    <a:pt x="7510299" y="10286873"/>
                  </a:cubicBezTo>
                  <a:cubicBezTo>
                    <a:pt x="5007262" y="10286238"/>
                    <a:pt x="2504336" y="10286238"/>
                    <a:pt x="1299" y="10286238"/>
                  </a:cubicBezTo>
                  <a:cubicBezTo>
                    <a:pt x="-2609" y="10272395"/>
                    <a:pt x="3303" y="10259822"/>
                    <a:pt x="5864" y="10246995"/>
                  </a:cubicBezTo>
                  <a:cubicBezTo>
                    <a:pt x="115888" y="9685401"/>
                    <a:pt x="226023" y="9123934"/>
                    <a:pt x="336381" y="8562467"/>
                  </a:cubicBezTo>
                  <a:cubicBezTo>
                    <a:pt x="493732" y="7761986"/>
                    <a:pt x="651418" y="6961632"/>
                    <a:pt x="808658" y="6161151"/>
                  </a:cubicBezTo>
                  <a:cubicBezTo>
                    <a:pt x="1002870" y="5172583"/>
                    <a:pt x="1196636" y="4184015"/>
                    <a:pt x="1390737" y="3195574"/>
                  </a:cubicBezTo>
                  <a:cubicBezTo>
                    <a:pt x="1587955" y="2191385"/>
                    <a:pt x="1785285" y="1187323"/>
                    <a:pt x="1983060" y="183261"/>
                  </a:cubicBezTo>
                  <a:cubicBezTo>
                    <a:pt x="1995087" y="122174"/>
                    <a:pt x="2002771" y="59690"/>
                    <a:pt x="2022259" y="635"/>
                  </a:cubicBezTo>
                  <a:cubicBezTo>
                    <a:pt x="3851680" y="635"/>
                    <a:pt x="5681101" y="635"/>
                    <a:pt x="7510522" y="0"/>
                  </a:cubicBezTo>
                  <a:cubicBezTo>
                    <a:pt x="7535356" y="0"/>
                    <a:pt x="7543819" y="3429"/>
                    <a:pt x="7543819" y="35814"/>
                  </a:cubicBezTo>
                  <a:cubicBezTo>
                    <a:pt x="7543151" y="3441065"/>
                    <a:pt x="7543151" y="6846316"/>
                    <a:pt x="754404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2" t="-6780" r="-47485" b="-137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950962">
            <a:off x="11071380" y="-56023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50962">
            <a:off x="10926404" y="-705213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1"/>
                </a:lnTo>
                <a:lnTo>
                  <a:pt x="0" y="3360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938400">
            <a:off x="15967753" y="4373911"/>
            <a:ext cx="6005961" cy="6005961"/>
          </a:xfrm>
          <a:custGeom>
            <a:avLst/>
            <a:gdLst/>
            <a:ahLst/>
            <a:cxnLst/>
            <a:rect r="r" b="b" t="t" l="l"/>
            <a:pathLst>
              <a:path h="6005961" w="6005961">
                <a:moveTo>
                  <a:pt x="0" y="0"/>
                </a:moveTo>
                <a:lnTo>
                  <a:pt x="6005961" y="0"/>
                </a:lnTo>
                <a:lnTo>
                  <a:pt x="6005961" y="6005961"/>
                </a:lnTo>
                <a:lnTo>
                  <a:pt x="0" y="6005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938400">
            <a:off x="15068142" y="8606554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2"/>
                </a:lnTo>
                <a:lnTo>
                  <a:pt x="0" y="3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048" y="9258300"/>
            <a:ext cx="901066" cy="901066"/>
          </a:xfrm>
          <a:custGeom>
            <a:avLst/>
            <a:gdLst/>
            <a:ahLst/>
            <a:cxnLst/>
            <a:rect r="r" b="b" t="t" l="l"/>
            <a:pathLst>
              <a:path h="901066" w="901066">
                <a:moveTo>
                  <a:pt x="0" y="0"/>
                </a:moveTo>
                <a:lnTo>
                  <a:pt x="901066" y="0"/>
                </a:lnTo>
                <a:lnTo>
                  <a:pt x="901066" y="901066"/>
                </a:lnTo>
                <a:lnTo>
                  <a:pt x="0" y="90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1843" y="9264718"/>
            <a:ext cx="10974906" cy="90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EC1617"/>
                </a:solidFill>
                <a:latin typeface="DM Sans Bold"/>
                <a:ea typeface="DM Sans Bold"/>
                <a:cs typeface="DM Sans Bold"/>
                <a:sym typeface="DM Sans Bold"/>
              </a:rPr>
              <a:t>MADDALENA S.p.A.</a:t>
            </a:r>
          </a:p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 G.B. Maddalena, 2/4 33040 Povoletto (UD), Italy | Tel. +390432 634811 l www.maddalena.it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Capitale sociale Share capital 2.080.000 € |C.F. e reg. impf. Tax id. and business reg. no. UD 80008170302 | P.IVA VAT no. IT00617140306 I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N. REA REA no. UD128629 | Export reg. UD007790 I PEC: amministrazione@maddalena.IegalmaiI.it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8691" y="332406"/>
            <a:ext cx="6379887" cy="1404481"/>
          </a:xfrm>
          <a:custGeom>
            <a:avLst/>
            <a:gdLst/>
            <a:ahLst/>
            <a:cxnLst/>
            <a:rect r="r" b="b" t="t" l="l"/>
            <a:pathLst>
              <a:path h="1404481" w="6379887">
                <a:moveTo>
                  <a:pt x="0" y="0"/>
                </a:moveTo>
                <a:lnTo>
                  <a:pt x="6379887" y="0"/>
                </a:lnTo>
                <a:lnTo>
                  <a:pt x="6379887" y="1404481"/>
                </a:lnTo>
                <a:lnTo>
                  <a:pt x="0" y="140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0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723" y="4254006"/>
            <a:ext cx="11923823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Digi</a:t>
            </a:r>
            <a:r>
              <a:rPr lang="en-US" b="true" sz="1999" spc="-109" strike="noStrike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tal transformation drives non-revenue water reduction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723" y="4820409"/>
            <a:ext cx="11923823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Digitaliz</a:t>
            </a: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ation is revolutionizing the way water utilities manage their assets, leading to significant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improvements in efficiency, reliability, and sustainability. By integrating advanced digital technologies,</a:t>
            </a:r>
          </a:p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water utilities can better monitor, analyze, and optimize their operations.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856749" y="-1438243"/>
            <a:ext cx="9502515" cy="12957557"/>
            <a:chOff x="0" y="0"/>
            <a:chExt cx="7543857" cy="102867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85" y="-127"/>
              <a:ext cx="754404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7544042">
                  <a:moveTo>
                    <a:pt x="7544042" y="10251440"/>
                  </a:moveTo>
                  <a:cubicBezTo>
                    <a:pt x="7544042" y="10284587"/>
                    <a:pt x="7534687" y="10286873"/>
                    <a:pt x="7510299" y="10286873"/>
                  </a:cubicBezTo>
                  <a:cubicBezTo>
                    <a:pt x="5007262" y="10286238"/>
                    <a:pt x="2504336" y="10286238"/>
                    <a:pt x="1299" y="10286238"/>
                  </a:cubicBezTo>
                  <a:cubicBezTo>
                    <a:pt x="-2609" y="10272395"/>
                    <a:pt x="3303" y="10259822"/>
                    <a:pt x="5864" y="10246995"/>
                  </a:cubicBezTo>
                  <a:cubicBezTo>
                    <a:pt x="115888" y="9685401"/>
                    <a:pt x="226023" y="9123934"/>
                    <a:pt x="336381" y="8562467"/>
                  </a:cubicBezTo>
                  <a:cubicBezTo>
                    <a:pt x="493732" y="7761986"/>
                    <a:pt x="651418" y="6961632"/>
                    <a:pt x="808658" y="6161151"/>
                  </a:cubicBezTo>
                  <a:cubicBezTo>
                    <a:pt x="1002870" y="5172583"/>
                    <a:pt x="1196636" y="4184015"/>
                    <a:pt x="1390737" y="3195574"/>
                  </a:cubicBezTo>
                  <a:cubicBezTo>
                    <a:pt x="1587955" y="2191385"/>
                    <a:pt x="1785285" y="1187323"/>
                    <a:pt x="1983060" y="183261"/>
                  </a:cubicBezTo>
                  <a:cubicBezTo>
                    <a:pt x="1995087" y="122174"/>
                    <a:pt x="2002771" y="59690"/>
                    <a:pt x="2022259" y="635"/>
                  </a:cubicBezTo>
                  <a:cubicBezTo>
                    <a:pt x="3851680" y="635"/>
                    <a:pt x="5681101" y="635"/>
                    <a:pt x="7510522" y="0"/>
                  </a:cubicBezTo>
                  <a:cubicBezTo>
                    <a:pt x="7535356" y="0"/>
                    <a:pt x="7543819" y="3429"/>
                    <a:pt x="7543819" y="35814"/>
                  </a:cubicBezTo>
                  <a:cubicBezTo>
                    <a:pt x="7543151" y="3441065"/>
                    <a:pt x="7543151" y="6846316"/>
                    <a:pt x="754404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2" t="-6780" r="-47485" b="-137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950962">
            <a:off x="11071380" y="-56023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50962">
            <a:off x="10926404" y="-705213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1"/>
                </a:lnTo>
                <a:lnTo>
                  <a:pt x="0" y="3360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938400">
            <a:off x="15967753" y="4373911"/>
            <a:ext cx="6005961" cy="6005961"/>
          </a:xfrm>
          <a:custGeom>
            <a:avLst/>
            <a:gdLst/>
            <a:ahLst/>
            <a:cxnLst/>
            <a:rect r="r" b="b" t="t" l="l"/>
            <a:pathLst>
              <a:path h="6005961" w="6005961">
                <a:moveTo>
                  <a:pt x="0" y="0"/>
                </a:moveTo>
                <a:lnTo>
                  <a:pt x="6005961" y="0"/>
                </a:lnTo>
                <a:lnTo>
                  <a:pt x="6005961" y="6005961"/>
                </a:lnTo>
                <a:lnTo>
                  <a:pt x="0" y="6005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938400">
            <a:off x="15068142" y="8606554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2"/>
                </a:lnTo>
                <a:lnTo>
                  <a:pt x="0" y="3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048" y="9258300"/>
            <a:ext cx="901066" cy="901066"/>
          </a:xfrm>
          <a:custGeom>
            <a:avLst/>
            <a:gdLst/>
            <a:ahLst/>
            <a:cxnLst/>
            <a:rect r="r" b="b" t="t" l="l"/>
            <a:pathLst>
              <a:path h="901066" w="901066">
                <a:moveTo>
                  <a:pt x="0" y="0"/>
                </a:moveTo>
                <a:lnTo>
                  <a:pt x="901066" y="0"/>
                </a:lnTo>
                <a:lnTo>
                  <a:pt x="901066" y="901066"/>
                </a:lnTo>
                <a:lnTo>
                  <a:pt x="0" y="90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1843" y="9264718"/>
            <a:ext cx="10974906" cy="90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EC1617"/>
                </a:solidFill>
                <a:latin typeface="DM Sans Bold"/>
                <a:ea typeface="DM Sans Bold"/>
                <a:cs typeface="DM Sans Bold"/>
                <a:sym typeface="DM Sans Bold"/>
              </a:rPr>
              <a:t>MADDALENA S.p.A.</a:t>
            </a:r>
          </a:p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 G.B. Maddalena, 2/4 33040 Povoletto (UD), Italy | Tel. +390432 634811 l www.maddalena.it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Capitale sociale Share capital 2.080.000 € |C.F. e reg. impf. Tax id. and business reg. no. UD 80008170302 | P.IVA VAT no. IT00617140306 I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N. REA REA no. UD128629 | Export reg. UD007790 I PEC: amministrazione@maddalena.IegalmaiI.it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8691" y="332406"/>
            <a:ext cx="6379887" cy="1404481"/>
          </a:xfrm>
          <a:custGeom>
            <a:avLst/>
            <a:gdLst/>
            <a:ahLst/>
            <a:cxnLst/>
            <a:rect r="r" b="b" t="t" l="l"/>
            <a:pathLst>
              <a:path h="1404481" w="6379887">
                <a:moveTo>
                  <a:pt x="0" y="0"/>
                </a:moveTo>
                <a:lnTo>
                  <a:pt x="6379887" y="0"/>
                </a:lnTo>
                <a:lnTo>
                  <a:pt x="6379887" y="1404481"/>
                </a:lnTo>
                <a:lnTo>
                  <a:pt x="0" y="140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0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723" y="4820409"/>
            <a:ext cx="11923823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M</a:t>
            </a:r>
            <a:r>
              <a:rPr lang="en-US" b="true" sz="1999" spc="-109" strike="noStrike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onitoring and Leak Detection:</a:t>
            </a: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Utilizing sensors, meters, and pressure gauges, water utilities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can gather realtime data on water flow, pressure, and consumption. Advanced analytics and machine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earning algorithms can detect leaks and pinpoint their locations, enabling targeted repairs and reducing</a:t>
            </a:r>
          </a:p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water loss.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56749" y="-1438243"/>
            <a:ext cx="9502515" cy="12957557"/>
            <a:chOff x="0" y="0"/>
            <a:chExt cx="7543857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85" y="-127"/>
              <a:ext cx="754404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7544042">
                  <a:moveTo>
                    <a:pt x="7544042" y="10251440"/>
                  </a:moveTo>
                  <a:cubicBezTo>
                    <a:pt x="7544042" y="10284587"/>
                    <a:pt x="7534687" y="10286873"/>
                    <a:pt x="7510299" y="10286873"/>
                  </a:cubicBezTo>
                  <a:cubicBezTo>
                    <a:pt x="5007262" y="10286238"/>
                    <a:pt x="2504336" y="10286238"/>
                    <a:pt x="1299" y="10286238"/>
                  </a:cubicBezTo>
                  <a:cubicBezTo>
                    <a:pt x="-2609" y="10272395"/>
                    <a:pt x="3303" y="10259822"/>
                    <a:pt x="5864" y="10246995"/>
                  </a:cubicBezTo>
                  <a:cubicBezTo>
                    <a:pt x="115888" y="9685401"/>
                    <a:pt x="226023" y="9123934"/>
                    <a:pt x="336381" y="8562467"/>
                  </a:cubicBezTo>
                  <a:cubicBezTo>
                    <a:pt x="493732" y="7761986"/>
                    <a:pt x="651418" y="6961632"/>
                    <a:pt x="808658" y="6161151"/>
                  </a:cubicBezTo>
                  <a:cubicBezTo>
                    <a:pt x="1002870" y="5172583"/>
                    <a:pt x="1196636" y="4184015"/>
                    <a:pt x="1390737" y="3195574"/>
                  </a:cubicBezTo>
                  <a:cubicBezTo>
                    <a:pt x="1587955" y="2191385"/>
                    <a:pt x="1785285" y="1187323"/>
                    <a:pt x="1983060" y="183261"/>
                  </a:cubicBezTo>
                  <a:cubicBezTo>
                    <a:pt x="1995087" y="122174"/>
                    <a:pt x="2002771" y="59690"/>
                    <a:pt x="2022259" y="635"/>
                  </a:cubicBezTo>
                  <a:cubicBezTo>
                    <a:pt x="3851680" y="635"/>
                    <a:pt x="5681101" y="635"/>
                    <a:pt x="7510522" y="0"/>
                  </a:cubicBezTo>
                  <a:cubicBezTo>
                    <a:pt x="7535356" y="0"/>
                    <a:pt x="7543819" y="3429"/>
                    <a:pt x="7543819" y="35814"/>
                  </a:cubicBezTo>
                  <a:cubicBezTo>
                    <a:pt x="7543151" y="3441065"/>
                    <a:pt x="7543151" y="6846316"/>
                    <a:pt x="754404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2" t="-6780" r="-47485" b="-137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950962">
            <a:off x="11071380" y="-56023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50962">
            <a:off x="10926404" y="-705213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1"/>
                </a:lnTo>
                <a:lnTo>
                  <a:pt x="0" y="3360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938400">
            <a:off x="15967753" y="4373911"/>
            <a:ext cx="6005961" cy="6005961"/>
          </a:xfrm>
          <a:custGeom>
            <a:avLst/>
            <a:gdLst/>
            <a:ahLst/>
            <a:cxnLst/>
            <a:rect r="r" b="b" t="t" l="l"/>
            <a:pathLst>
              <a:path h="6005961" w="6005961">
                <a:moveTo>
                  <a:pt x="0" y="0"/>
                </a:moveTo>
                <a:lnTo>
                  <a:pt x="6005961" y="0"/>
                </a:lnTo>
                <a:lnTo>
                  <a:pt x="6005961" y="6005961"/>
                </a:lnTo>
                <a:lnTo>
                  <a:pt x="0" y="6005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938400">
            <a:off x="15068142" y="8606554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2"/>
                </a:lnTo>
                <a:lnTo>
                  <a:pt x="0" y="3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48" y="9258300"/>
            <a:ext cx="901066" cy="901066"/>
          </a:xfrm>
          <a:custGeom>
            <a:avLst/>
            <a:gdLst/>
            <a:ahLst/>
            <a:cxnLst/>
            <a:rect r="r" b="b" t="t" l="l"/>
            <a:pathLst>
              <a:path h="901066" w="901066">
                <a:moveTo>
                  <a:pt x="0" y="0"/>
                </a:moveTo>
                <a:lnTo>
                  <a:pt x="901066" y="0"/>
                </a:lnTo>
                <a:lnTo>
                  <a:pt x="901066" y="901066"/>
                </a:lnTo>
                <a:lnTo>
                  <a:pt x="0" y="90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1843" y="9264718"/>
            <a:ext cx="10974906" cy="90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EC1617"/>
                </a:solidFill>
                <a:latin typeface="DM Sans Bold"/>
                <a:ea typeface="DM Sans Bold"/>
                <a:cs typeface="DM Sans Bold"/>
                <a:sym typeface="DM Sans Bold"/>
              </a:rPr>
              <a:t>MADDALENA S.p.A.</a:t>
            </a:r>
          </a:p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 G.B. Maddalena, 2/4 33040 Povoletto (UD), Italy | Tel. +390432 634811 l www.maddalena.it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Capitale sociale Share capital 2.080.000 € |C.F. e reg. impf. Tax id. and business reg. no. UD 80008170302 | P.IVA VAT no. IT00617140306 I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N. REA REA no. UD128629 | Export reg. UD007790 I PEC: amministrazione@maddalena.IegalmaiI.it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8691" y="332406"/>
            <a:ext cx="6379887" cy="1404481"/>
          </a:xfrm>
          <a:custGeom>
            <a:avLst/>
            <a:gdLst/>
            <a:ahLst/>
            <a:cxnLst/>
            <a:rect r="r" b="b" t="t" l="l"/>
            <a:pathLst>
              <a:path h="1404481" w="6379887">
                <a:moveTo>
                  <a:pt x="0" y="0"/>
                </a:moveTo>
                <a:lnTo>
                  <a:pt x="6379887" y="0"/>
                </a:lnTo>
                <a:lnTo>
                  <a:pt x="6379887" y="1404481"/>
                </a:lnTo>
                <a:lnTo>
                  <a:pt x="0" y="140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0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723" y="4820409"/>
            <a:ext cx="11923823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Predictive Maintenance:</a:t>
            </a:r>
            <a:r>
              <a:rPr lang="en-US" b="true" sz="1999" spc="-109" strike="noStrike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tools allow for predictive maintenance strategies by analyzing data on flow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rates, pressure changes, and equipment performance. This helps utilities anticipate maintenance needs and</a:t>
            </a:r>
          </a:p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address potential issues before they escalate, minimizing downtime and repair costs.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56749" y="-1438243"/>
            <a:ext cx="9502515" cy="12957557"/>
            <a:chOff x="0" y="0"/>
            <a:chExt cx="7543857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85" y="-127"/>
              <a:ext cx="754404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7544042">
                  <a:moveTo>
                    <a:pt x="7544042" y="10251440"/>
                  </a:moveTo>
                  <a:cubicBezTo>
                    <a:pt x="7544042" y="10284587"/>
                    <a:pt x="7534687" y="10286873"/>
                    <a:pt x="7510299" y="10286873"/>
                  </a:cubicBezTo>
                  <a:cubicBezTo>
                    <a:pt x="5007262" y="10286238"/>
                    <a:pt x="2504336" y="10286238"/>
                    <a:pt x="1299" y="10286238"/>
                  </a:cubicBezTo>
                  <a:cubicBezTo>
                    <a:pt x="-2609" y="10272395"/>
                    <a:pt x="3303" y="10259822"/>
                    <a:pt x="5864" y="10246995"/>
                  </a:cubicBezTo>
                  <a:cubicBezTo>
                    <a:pt x="115888" y="9685401"/>
                    <a:pt x="226023" y="9123934"/>
                    <a:pt x="336381" y="8562467"/>
                  </a:cubicBezTo>
                  <a:cubicBezTo>
                    <a:pt x="493732" y="7761986"/>
                    <a:pt x="651418" y="6961632"/>
                    <a:pt x="808658" y="6161151"/>
                  </a:cubicBezTo>
                  <a:cubicBezTo>
                    <a:pt x="1002870" y="5172583"/>
                    <a:pt x="1196636" y="4184015"/>
                    <a:pt x="1390737" y="3195574"/>
                  </a:cubicBezTo>
                  <a:cubicBezTo>
                    <a:pt x="1587955" y="2191385"/>
                    <a:pt x="1785285" y="1187323"/>
                    <a:pt x="1983060" y="183261"/>
                  </a:cubicBezTo>
                  <a:cubicBezTo>
                    <a:pt x="1995087" y="122174"/>
                    <a:pt x="2002771" y="59690"/>
                    <a:pt x="2022259" y="635"/>
                  </a:cubicBezTo>
                  <a:cubicBezTo>
                    <a:pt x="3851680" y="635"/>
                    <a:pt x="5681101" y="635"/>
                    <a:pt x="7510522" y="0"/>
                  </a:cubicBezTo>
                  <a:cubicBezTo>
                    <a:pt x="7535356" y="0"/>
                    <a:pt x="7543819" y="3429"/>
                    <a:pt x="7543819" y="35814"/>
                  </a:cubicBezTo>
                  <a:cubicBezTo>
                    <a:pt x="7543151" y="3441065"/>
                    <a:pt x="7543151" y="6846316"/>
                    <a:pt x="754404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2" t="-6780" r="-47485" b="-137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950962">
            <a:off x="11071380" y="-56023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50962">
            <a:off x="10926404" y="-705213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1"/>
                </a:lnTo>
                <a:lnTo>
                  <a:pt x="0" y="3360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938400">
            <a:off x="15967753" y="4373911"/>
            <a:ext cx="6005961" cy="6005961"/>
          </a:xfrm>
          <a:custGeom>
            <a:avLst/>
            <a:gdLst/>
            <a:ahLst/>
            <a:cxnLst/>
            <a:rect r="r" b="b" t="t" l="l"/>
            <a:pathLst>
              <a:path h="6005961" w="6005961">
                <a:moveTo>
                  <a:pt x="0" y="0"/>
                </a:moveTo>
                <a:lnTo>
                  <a:pt x="6005961" y="0"/>
                </a:lnTo>
                <a:lnTo>
                  <a:pt x="6005961" y="6005961"/>
                </a:lnTo>
                <a:lnTo>
                  <a:pt x="0" y="6005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938400">
            <a:off x="15068142" y="8606554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2"/>
                </a:lnTo>
                <a:lnTo>
                  <a:pt x="0" y="3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48" y="9258300"/>
            <a:ext cx="901066" cy="901066"/>
          </a:xfrm>
          <a:custGeom>
            <a:avLst/>
            <a:gdLst/>
            <a:ahLst/>
            <a:cxnLst/>
            <a:rect r="r" b="b" t="t" l="l"/>
            <a:pathLst>
              <a:path h="901066" w="901066">
                <a:moveTo>
                  <a:pt x="0" y="0"/>
                </a:moveTo>
                <a:lnTo>
                  <a:pt x="901066" y="0"/>
                </a:lnTo>
                <a:lnTo>
                  <a:pt x="901066" y="901066"/>
                </a:lnTo>
                <a:lnTo>
                  <a:pt x="0" y="90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1843" y="9264718"/>
            <a:ext cx="10974906" cy="90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EC1617"/>
                </a:solidFill>
                <a:latin typeface="DM Sans Bold"/>
                <a:ea typeface="DM Sans Bold"/>
                <a:cs typeface="DM Sans Bold"/>
                <a:sym typeface="DM Sans Bold"/>
              </a:rPr>
              <a:t>MADDALENA S.p.A.</a:t>
            </a:r>
          </a:p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 G.B. Maddalena, 2/4 33040 Povoletto (UD), Italy | Tel. +390432 634811 l www.maddalena.it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Capitale sociale Share capital 2.080.000 € |C.F. e reg. impf. Tax id. and business reg. no. UD 80008170302 | P.IVA VAT no. IT00617140306 I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N. REA REA no. UD128629 | Export reg. UD007790 I PEC: amministrazione@maddalena.IegalmaiI.it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8691" y="332406"/>
            <a:ext cx="6379887" cy="1404481"/>
          </a:xfrm>
          <a:custGeom>
            <a:avLst/>
            <a:gdLst/>
            <a:ahLst/>
            <a:cxnLst/>
            <a:rect r="r" b="b" t="t" l="l"/>
            <a:pathLst>
              <a:path h="1404481" w="6379887">
                <a:moveTo>
                  <a:pt x="0" y="0"/>
                </a:moveTo>
                <a:lnTo>
                  <a:pt x="6379887" y="0"/>
                </a:lnTo>
                <a:lnTo>
                  <a:pt x="6379887" y="1404481"/>
                </a:lnTo>
                <a:lnTo>
                  <a:pt x="0" y="140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0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723" y="4820409"/>
            <a:ext cx="11923823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Comprehensive Asset Management: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Digital platforms provide a holistic view ofinfrastructure, including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pip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es, valves, and meters. This helps identify aging or deteriorating assets, prioritize maintenance, and plan</a:t>
            </a:r>
          </a:p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for 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replacements, ensuring the longevity and reliability ofthe water network.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56749" y="-1438243"/>
            <a:ext cx="9502515" cy="12957557"/>
            <a:chOff x="0" y="0"/>
            <a:chExt cx="7543857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85" y="-127"/>
              <a:ext cx="754404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7544042">
                  <a:moveTo>
                    <a:pt x="7544042" y="10251440"/>
                  </a:moveTo>
                  <a:cubicBezTo>
                    <a:pt x="7544042" y="10284587"/>
                    <a:pt x="7534687" y="10286873"/>
                    <a:pt x="7510299" y="10286873"/>
                  </a:cubicBezTo>
                  <a:cubicBezTo>
                    <a:pt x="5007262" y="10286238"/>
                    <a:pt x="2504336" y="10286238"/>
                    <a:pt x="1299" y="10286238"/>
                  </a:cubicBezTo>
                  <a:cubicBezTo>
                    <a:pt x="-2609" y="10272395"/>
                    <a:pt x="3303" y="10259822"/>
                    <a:pt x="5864" y="10246995"/>
                  </a:cubicBezTo>
                  <a:cubicBezTo>
                    <a:pt x="115888" y="9685401"/>
                    <a:pt x="226023" y="9123934"/>
                    <a:pt x="336381" y="8562467"/>
                  </a:cubicBezTo>
                  <a:cubicBezTo>
                    <a:pt x="493732" y="7761986"/>
                    <a:pt x="651418" y="6961632"/>
                    <a:pt x="808658" y="6161151"/>
                  </a:cubicBezTo>
                  <a:cubicBezTo>
                    <a:pt x="1002870" y="5172583"/>
                    <a:pt x="1196636" y="4184015"/>
                    <a:pt x="1390737" y="3195574"/>
                  </a:cubicBezTo>
                  <a:cubicBezTo>
                    <a:pt x="1587955" y="2191385"/>
                    <a:pt x="1785285" y="1187323"/>
                    <a:pt x="1983060" y="183261"/>
                  </a:cubicBezTo>
                  <a:cubicBezTo>
                    <a:pt x="1995087" y="122174"/>
                    <a:pt x="2002771" y="59690"/>
                    <a:pt x="2022259" y="635"/>
                  </a:cubicBezTo>
                  <a:cubicBezTo>
                    <a:pt x="3851680" y="635"/>
                    <a:pt x="5681101" y="635"/>
                    <a:pt x="7510522" y="0"/>
                  </a:cubicBezTo>
                  <a:cubicBezTo>
                    <a:pt x="7535356" y="0"/>
                    <a:pt x="7543819" y="3429"/>
                    <a:pt x="7543819" y="35814"/>
                  </a:cubicBezTo>
                  <a:cubicBezTo>
                    <a:pt x="7543151" y="3441065"/>
                    <a:pt x="7543151" y="6846316"/>
                    <a:pt x="754404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2" t="-6780" r="-47485" b="-137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950962">
            <a:off x="11071380" y="-56023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50962">
            <a:off x="10926404" y="-705213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1"/>
                </a:lnTo>
                <a:lnTo>
                  <a:pt x="0" y="3360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938400">
            <a:off x="15967753" y="4373911"/>
            <a:ext cx="6005961" cy="6005961"/>
          </a:xfrm>
          <a:custGeom>
            <a:avLst/>
            <a:gdLst/>
            <a:ahLst/>
            <a:cxnLst/>
            <a:rect r="r" b="b" t="t" l="l"/>
            <a:pathLst>
              <a:path h="6005961" w="6005961">
                <a:moveTo>
                  <a:pt x="0" y="0"/>
                </a:moveTo>
                <a:lnTo>
                  <a:pt x="6005961" y="0"/>
                </a:lnTo>
                <a:lnTo>
                  <a:pt x="6005961" y="6005961"/>
                </a:lnTo>
                <a:lnTo>
                  <a:pt x="0" y="6005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938400">
            <a:off x="15068142" y="8606554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2"/>
                </a:lnTo>
                <a:lnTo>
                  <a:pt x="0" y="3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48" y="9258300"/>
            <a:ext cx="901066" cy="901066"/>
          </a:xfrm>
          <a:custGeom>
            <a:avLst/>
            <a:gdLst/>
            <a:ahLst/>
            <a:cxnLst/>
            <a:rect r="r" b="b" t="t" l="l"/>
            <a:pathLst>
              <a:path h="901066" w="901066">
                <a:moveTo>
                  <a:pt x="0" y="0"/>
                </a:moveTo>
                <a:lnTo>
                  <a:pt x="901066" y="0"/>
                </a:lnTo>
                <a:lnTo>
                  <a:pt x="901066" y="901066"/>
                </a:lnTo>
                <a:lnTo>
                  <a:pt x="0" y="90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1843" y="9264718"/>
            <a:ext cx="10974906" cy="90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EC1617"/>
                </a:solidFill>
                <a:latin typeface="DM Sans Bold"/>
                <a:ea typeface="DM Sans Bold"/>
                <a:cs typeface="DM Sans Bold"/>
                <a:sym typeface="DM Sans Bold"/>
              </a:rPr>
              <a:t>MADDALENA S.p.A.</a:t>
            </a:r>
          </a:p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 G.B. Maddalena, 2/4 33040 Povoletto (UD), Italy | Tel. +390432 634811 l www.maddalena.it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Capitale sociale Share capital 2.080.000 € |C.F. e reg. impf. Tax id. and business reg. no. UD 80008170302 | P.IVA VAT no. IT00617140306 I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N. REA REA no. UD128629 | Export reg. UD007790 I PEC: amministrazione@maddalena.IegalmaiI.it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8691" y="332406"/>
            <a:ext cx="6379887" cy="1404481"/>
          </a:xfrm>
          <a:custGeom>
            <a:avLst/>
            <a:gdLst/>
            <a:ahLst/>
            <a:cxnLst/>
            <a:rect r="r" b="b" t="t" l="l"/>
            <a:pathLst>
              <a:path h="1404481" w="6379887">
                <a:moveTo>
                  <a:pt x="0" y="0"/>
                </a:moveTo>
                <a:lnTo>
                  <a:pt x="6379887" y="0"/>
                </a:lnTo>
                <a:lnTo>
                  <a:pt x="6379887" y="1404481"/>
                </a:lnTo>
                <a:lnTo>
                  <a:pt x="0" y="140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0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723" y="4820409"/>
            <a:ext cx="11923823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Pressure Management:</a:t>
            </a:r>
            <a:r>
              <a:rPr lang="en-US" b="true" sz="1999" spc="-109" strike="noStrike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Excessive pressure can lead to burst 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pip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 and increased leakage. Digital tools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enable active monitoring and control of p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ressu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 levels, optimizing the distribution network and reducing</a:t>
            </a:r>
          </a:p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the likelihood of leaks.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56749" y="-1438243"/>
            <a:ext cx="9502515" cy="12957557"/>
            <a:chOff x="0" y="0"/>
            <a:chExt cx="7543857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85" y="-127"/>
              <a:ext cx="754404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7544042">
                  <a:moveTo>
                    <a:pt x="7544042" y="10251440"/>
                  </a:moveTo>
                  <a:cubicBezTo>
                    <a:pt x="7544042" y="10284587"/>
                    <a:pt x="7534687" y="10286873"/>
                    <a:pt x="7510299" y="10286873"/>
                  </a:cubicBezTo>
                  <a:cubicBezTo>
                    <a:pt x="5007262" y="10286238"/>
                    <a:pt x="2504336" y="10286238"/>
                    <a:pt x="1299" y="10286238"/>
                  </a:cubicBezTo>
                  <a:cubicBezTo>
                    <a:pt x="-2609" y="10272395"/>
                    <a:pt x="3303" y="10259822"/>
                    <a:pt x="5864" y="10246995"/>
                  </a:cubicBezTo>
                  <a:cubicBezTo>
                    <a:pt x="115888" y="9685401"/>
                    <a:pt x="226023" y="9123934"/>
                    <a:pt x="336381" y="8562467"/>
                  </a:cubicBezTo>
                  <a:cubicBezTo>
                    <a:pt x="493732" y="7761986"/>
                    <a:pt x="651418" y="6961632"/>
                    <a:pt x="808658" y="6161151"/>
                  </a:cubicBezTo>
                  <a:cubicBezTo>
                    <a:pt x="1002870" y="5172583"/>
                    <a:pt x="1196636" y="4184015"/>
                    <a:pt x="1390737" y="3195574"/>
                  </a:cubicBezTo>
                  <a:cubicBezTo>
                    <a:pt x="1587955" y="2191385"/>
                    <a:pt x="1785285" y="1187323"/>
                    <a:pt x="1983060" y="183261"/>
                  </a:cubicBezTo>
                  <a:cubicBezTo>
                    <a:pt x="1995087" y="122174"/>
                    <a:pt x="2002771" y="59690"/>
                    <a:pt x="2022259" y="635"/>
                  </a:cubicBezTo>
                  <a:cubicBezTo>
                    <a:pt x="3851680" y="635"/>
                    <a:pt x="5681101" y="635"/>
                    <a:pt x="7510522" y="0"/>
                  </a:cubicBezTo>
                  <a:cubicBezTo>
                    <a:pt x="7535356" y="0"/>
                    <a:pt x="7543819" y="3429"/>
                    <a:pt x="7543819" y="35814"/>
                  </a:cubicBezTo>
                  <a:cubicBezTo>
                    <a:pt x="7543151" y="3441065"/>
                    <a:pt x="7543151" y="6846316"/>
                    <a:pt x="7544042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2" t="-6780" r="-47485" b="-137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950962">
            <a:off x="11071380" y="-56023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50962">
            <a:off x="10926404" y="-705213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1"/>
                </a:lnTo>
                <a:lnTo>
                  <a:pt x="0" y="3360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938400">
            <a:off x="15967753" y="4373911"/>
            <a:ext cx="6005961" cy="6005961"/>
          </a:xfrm>
          <a:custGeom>
            <a:avLst/>
            <a:gdLst/>
            <a:ahLst/>
            <a:cxnLst/>
            <a:rect r="r" b="b" t="t" l="l"/>
            <a:pathLst>
              <a:path h="6005961" w="6005961">
                <a:moveTo>
                  <a:pt x="0" y="0"/>
                </a:moveTo>
                <a:lnTo>
                  <a:pt x="6005961" y="0"/>
                </a:lnTo>
                <a:lnTo>
                  <a:pt x="6005961" y="6005961"/>
                </a:lnTo>
                <a:lnTo>
                  <a:pt x="0" y="6005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938400">
            <a:off x="15068142" y="8606554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2"/>
                </a:lnTo>
                <a:lnTo>
                  <a:pt x="0" y="3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48" y="9258300"/>
            <a:ext cx="901066" cy="901066"/>
          </a:xfrm>
          <a:custGeom>
            <a:avLst/>
            <a:gdLst/>
            <a:ahLst/>
            <a:cxnLst/>
            <a:rect r="r" b="b" t="t" l="l"/>
            <a:pathLst>
              <a:path h="901066" w="901066">
                <a:moveTo>
                  <a:pt x="0" y="0"/>
                </a:moveTo>
                <a:lnTo>
                  <a:pt x="901066" y="0"/>
                </a:lnTo>
                <a:lnTo>
                  <a:pt x="901066" y="901066"/>
                </a:lnTo>
                <a:lnTo>
                  <a:pt x="0" y="90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1843" y="9264718"/>
            <a:ext cx="10974906" cy="90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EC1617"/>
                </a:solidFill>
                <a:latin typeface="DM Sans Bold"/>
                <a:ea typeface="DM Sans Bold"/>
                <a:cs typeface="DM Sans Bold"/>
                <a:sym typeface="DM Sans Bold"/>
              </a:rPr>
              <a:t>MADDALENA S.p.A.</a:t>
            </a:r>
          </a:p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 G.B. Maddalena, 2/4 33040 Povoletto (UD), Italy | Tel. +390432 634811 l www.maddalena.it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Capitale sociale Share capital 2.080.000 € |C.F. e reg. impf. Tax id. and business reg. no. UD 80008170302 | P.IVA VAT no. IT00617140306 I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N. REA REA no. UD128629 | Export reg. UD007790 I PEC: amministrazione@maddalena.IegalmaiI.it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56749" y="-1438243"/>
            <a:ext cx="9502515" cy="12957557"/>
            <a:chOff x="0" y="0"/>
            <a:chExt cx="7543857" cy="1028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85" y="-127"/>
              <a:ext cx="7544042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7544042">
                  <a:moveTo>
                    <a:pt x="7544042" y="10251440"/>
                  </a:moveTo>
                  <a:cubicBezTo>
                    <a:pt x="7544042" y="10284587"/>
                    <a:pt x="7534687" y="10286873"/>
                    <a:pt x="7510299" y="10286873"/>
                  </a:cubicBezTo>
                  <a:cubicBezTo>
                    <a:pt x="5007262" y="10286238"/>
                    <a:pt x="2504336" y="10286238"/>
                    <a:pt x="1299" y="10286238"/>
                  </a:cubicBezTo>
                  <a:cubicBezTo>
                    <a:pt x="-2609" y="10272395"/>
                    <a:pt x="3303" y="10259822"/>
                    <a:pt x="5864" y="10246995"/>
                  </a:cubicBezTo>
                  <a:cubicBezTo>
                    <a:pt x="115888" y="9685401"/>
                    <a:pt x="226023" y="9123934"/>
                    <a:pt x="336381" y="8562467"/>
                  </a:cubicBezTo>
                  <a:cubicBezTo>
                    <a:pt x="493732" y="7761986"/>
                    <a:pt x="651418" y="6961632"/>
                    <a:pt x="808658" y="6161151"/>
                  </a:cubicBezTo>
                  <a:cubicBezTo>
                    <a:pt x="1002870" y="5172583"/>
                    <a:pt x="1196636" y="4184015"/>
                    <a:pt x="1390737" y="3195574"/>
                  </a:cubicBezTo>
                  <a:cubicBezTo>
                    <a:pt x="1587955" y="2191385"/>
                    <a:pt x="1785285" y="1187323"/>
                    <a:pt x="1983060" y="183261"/>
                  </a:cubicBezTo>
                  <a:cubicBezTo>
                    <a:pt x="1995087" y="122174"/>
                    <a:pt x="2002771" y="59690"/>
                    <a:pt x="2022259" y="635"/>
                  </a:cubicBezTo>
                  <a:cubicBezTo>
                    <a:pt x="3851680" y="635"/>
                    <a:pt x="5681101" y="635"/>
                    <a:pt x="7510522" y="0"/>
                  </a:cubicBezTo>
                  <a:cubicBezTo>
                    <a:pt x="7535356" y="0"/>
                    <a:pt x="7543819" y="3429"/>
                    <a:pt x="7543819" y="35814"/>
                  </a:cubicBezTo>
                  <a:cubicBezTo>
                    <a:pt x="7543151" y="3441065"/>
                    <a:pt x="7543151" y="6846316"/>
                    <a:pt x="7544042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2" t="-6780" r="-47485" b="-137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950962">
            <a:off x="11071380" y="-56023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50962">
            <a:off x="10926404" y="-705213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1"/>
                </a:lnTo>
                <a:lnTo>
                  <a:pt x="0" y="336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938400">
            <a:off x="15967753" y="4373911"/>
            <a:ext cx="6005961" cy="6005961"/>
          </a:xfrm>
          <a:custGeom>
            <a:avLst/>
            <a:gdLst/>
            <a:ahLst/>
            <a:cxnLst/>
            <a:rect r="r" b="b" t="t" l="l"/>
            <a:pathLst>
              <a:path h="6005961" w="6005961">
                <a:moveTo>
                  <a:pt x="0" y="0"/>
                </a:moveTo>
                <a:lnTo>
                  <a:pt x="6005961" y="0"/>
                </a:lnTo>
                <a:lnTo>
                  <a:pt x="6005961" y="6005961"/>
                </a:lnTo>
                <a:lnTo>
                  <a:pt x="0" y="6005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938400">
            <a:off x="15068142" y="8606554"/>
            <a:ext cx="3360891" cy="3360891"/>
          </a:xfrm>
          <a:custGeom>
            <a:avLst/>
            <a:gdLst/>
            <a:ahLst/>
            <a:cxnLst/>
            <a:rect r="r" b="b" t="t" l="l"/>
            <a:pathLst>
              <a:path h="3360891" w="3360891">
                <a:moveTo>
                  <a:pt x="0" y="0"/>
                </a:moveTo>
                <a:lnTo>
                  <a:pt x="3360891" y="0"/>
                </a:lnTo>
                <a:lnTo>
                  <a:pt x="3360891" y="3360892"/>
                </a:lnTo>
                <a:lnTo>
                  <a:pt x="0" y="3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98691" y="332406"/>
            <a:ext cx="6379887" cy="1404481"/>
          </a:xfrm>
          <a:custGeom>
            <a:avLst/>
            <a:gdLst/>
            <a:ahLst/>
            <a:cxnLst/>
            <a:rect r="r" b="b" t="t" l="l"/>
            <a:pathLst>
              <a:path h="1404481" w="6379887">
                <a:moveTo>
                  <a:pt x="0" y="0"/>
                </a:moveTo>
                <a:lnTo>
                  <a:pt x="6379887" y="0"/>
                </a:lnTo>
                <a:lnTo>
                  <a:pt x="6379887" y="1404481"/>
                </a:lnTo>
                <a:lnTo>
                  <a:pt x="0" y="1404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208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048" y="9258300"/>
            <a:ext cx="901066" cy="901066"/>
          </a:xfrm>
          <a:custGeom>
            <a:avLst/>
            <a:gdLst/>
            <a:ahLst/>
            <a:cxnLst/>
            <a:rect r="r" b="b" t="t" l="l"/>
            <a:pathLst>
              <a:path h="901066" w="901066">
                <a:moveTo>
                  <a:pt x="0" y="0"/>
                </a:moveTo>
                <a:lnTo>
                  <a:pt x="901066" y="0"/>
                </a:lnTo>
                <a:lnTo>
                  <a:pt x="901066" y="901066"/>
                </a:lnTo>
                <a:lnTo>
                  <a:pt x="0" y="90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6723" y="4820409"/>
            <a:ext cx="11923823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u="sng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Data-Driven Decision Making:</a:t>
            </a:r>
            <a:r>
              <a:rPr lang="en-US" b="true" sz="1999" spc="-109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1999" spc="-10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The integration of digital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technologies facilitates the collection and analysis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ofvast amounts ofdata. By embracing digitalization, water util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iti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 can enhance their asset management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practices, ensuring a more efficient, reliable, and sustainable water supply for thei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 communities. This</a:t>
            </a: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data-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driven approach supports informed decision-making, helping utilities implement effective water</a:t>
            </a:r>
          </a:p>
          <a:p>
            <a:pPr algn="l" marL="0" indent="0" lvl="1">
              <a:lnSpc>
                <a:spcPts val="2579"/>
              </a:lnSpc>
              <a:spcBef>
                <a:spcPct val="0"/>
              </a:spcBef>
            </a:pPr>
            <a:r>
              <a:rPr lang="en-US" b="true" sz="1999" spc="-109" strike="noStrik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management strategies and improve overall service delivery.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843" y="9264718"/>
            <a:ext cx="10974906" cy="90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EC1617"/>
                </a:solidFill>
                <a:latin typeface="DM Sans Bold"/>
                <a:ea typeface="DM Sans Bold"/>
                <a:cs typeface="DM Sans Bold"/>
                <a:sym typeface="DM Sans Bold"/>
              </a:rPr>
              <a:t>MADDALENA S.p.A.</a:t>
            </a:r>
          </a:p>
          <a:p>
            <a:pPr algn="ctr">
              <a:lnSpc>
                <a:spcPts val="1906"/>
              </a:lnSpc>
            </a:pPr>
            <a:r>
              <a:rPr lang="en-US" sz="136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 G.B. Maddalena, 2/4 33040 Povoletto (UD), Italy | Tel. +390432 634811 l www.maddalena.it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Capitale sociale Share capital 2.080.000 € |C.F. e reg. impf. Tax id. and business reg. no. UD 80008170302 | P.IVA VAT no. IT00617140306 I</a:t>
            </a:r>
          </a:p>
          <a:p>
            <a:pPr algn="ctr">
              <a:lnSpc>
                <a:spcPts val="1740"/>
              </a:lnSpc>
            </a:pPr>
            <a:r>
              <a:rPr lang="en-US" sz="124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N. REA REA no. UD128629 | Export reg. UD007790 I PEC: amministrazione@maddalena.IegalmaiI.it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DAG_x6OIxBE</dc:identifier>
  <dcterms:modified xsi:type="dcterms:W3CDTF">2011-08-01T06:04:30Z</dcterms:modified>
  <cp:revision>1</cp:revision>
  <dc:title>Black and Red Modern Car Dealer Presentation</dc:title>
</cp:coreProperties>
</file>